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1" d="100"/>
          <a:sy n="61" d="100"/>
        </p:scale>
        <p:origin x="8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5CC710-4140-08DE-9E47-5E2FF3F2AF4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65CEB13F-2174-F95A-772C-FD0AAD1811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BDBF3D3-08F6-80EB-4B2F-553259076E62}"/>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5" name="Marcador de pie de página 4">
            <a:extLst>
              <a:ext uri="{FF2B5EF4-FFF2-40B4-BE49-F238E27FC236}">
                <a16:creationId xmlns:a16="http://schemas.microsoft.com/office/drawing/2014/main" id="{2F67E7E6-3125-4E1D-9F98-0D499EF09AA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05006ED-C3B3-0ED9-5666-16FD4DD4D162}"/>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1940013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60F7-DB0C-C85E-C35A-B13E543D720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74C8A5-8EA2-7281-7FDF-0AB4A109F65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31F598D-C8A6-F706-9154-9F97CA72A695}"/>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5" name="Marcador de pie de página 4">
            <a:extLst>
              <a:ext uri="{FF2B5EF4-FFF2-40B4-BE49-F238E27FC236}">
                <a16:creationId xmlns:a16="http://schemas.microsoft.com/office/drawing/2014/main" id="{CDD5B030-0054-F332-9EBF-4AE626C2158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78FD97C-7CE7-2437-B789-B8E332A3C431}"/>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2255663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D795F-EC72-96A4-0248-10E000D7BDF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A1BE7A9-D0D2-8FB9-39D1-E466E1C17B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4DC11DF-DD26-6A96-61B4-2497BB1ADAD4}"/>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5" name="Marcador de pie de página 4">
            <a:extLst>
              <a:ext uri="{FF2B5EF4-FFF2-40B4-BE49-F238E27FC236}">
                <a16:creationId xmlns:a16="http://schemas.microsoft.com/office/drawing/2014/main" id="{24EBA3DC-600E-1D5B-F6CA-7DB9E2544F3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7AB0C53-3EA8-CD1C-06A0-6BC723C11C43}"/>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20195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659822-6E66-2340-20F5-61E71074BE4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9C3D7E4-C94F-E82C-41B0-101DA6DEA04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78FDD662-D06A-53F1-E2B2-209C99AC39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C130A6D-48A1-243A-D23A-49A5BC507BB0}"/>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6" name="Marcador de pie de página 5">
            <a:extLst>
              <a:ext uri="{FF2B5EF4-FFF2-40B4-BE49-F238E27FC236}">
                <a16:creationId xmlns:a16="http://schemas.microsoft.com/office/drawing/2014/main" id="{0A10C1C0-4246-8A91-68A7-227D13AF679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6EC3001-82D0-0C44-9834-A6730E07A45F}"/>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984637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B8B160-BD45-C59E-9D5A-7BFF1C473BF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AB2854A-2E91-1141-2DD3-235B1FCE2B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F9AB90E-8AEC-5498-5396-C0595013648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9A81488-C8B6-5828-5009-0B503DFEF2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076EFFD-41C6-AEBC-228B-7B02FAF0E3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6DBAB451-B0F4-040F-CCC8-977E11E95941}"/>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8" name="Marcador de pie de página 7">
            <a:extLst>
              <a:ext uri="{FF2B5EF4-FFF2-40B4-BE49-F238E27FC236}">
                <a16:creationId xmlns:a16="http://schemas.microsoft.com/office/drawing/2014/main" id="{B8A69484-7421-ACDD-B71C-7C1CF525B29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598FCBD-3405-A326-532C-BBCEC609B232}"/>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3804999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961665-9BB8-0D3D-4101-23A38865A68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2EB89D3-53D8-E9FD-91B3-CCE46A0B8BA9}"/>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4" name="Marcador de pie de página 3">
            <a:extLst>
              <a:ext uri="{FF2B5EF4-FFF2-40B4-BE49-F238E27FC236}">
                <a16:creationId xmlns:a16="http://schemas.microsoft.com/office/drawing/2014/main" id="{0F492B10-4699-0207-85CB-CEB1D5DE3CAF}"/>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6FE6D35-BEC6-F8B3-D286-B5B9FA795E4C}"/>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3316087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534631F-6DFC-44E1-251A-38E0486F8F40}"/>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3" name="Marcador de pie de página 2">
            <a:extLst>
              <a:ext uri="{FF2B5EF4-FFF2-40B4-BE49-F238E27FC236}">
                <a16:creationId xmlns:a16="http://schemas.microsoft.com/office/drawing/2014/main" id="{F0CC7A5A-DA46-C8C5-B2BA-188F2DB5F312}"/>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426E5EC6-D4CD-69B4-9D05-6B0AE56B47EF}"/>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2747988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602462-5733-5869-848D-7CEA7D973C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CF08551-CC13-E3D4-7862-0F4C67466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F0DD6FB3-259E-8B37-F9CF-DCBFA7926D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A2C1506-0B00-DA03-2BE4-2DDD713483E2}"/>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6" name="Marcador de pie de página 5">
            <a:extLst>
              <a:ext uri="{FF2B5EF4-FFF2-40B4-BE49-F238E27FC236}">
                <a16:creationId xmlns:a16="http://schemas.microsoft.com/office/drawing/2014/main" id="{982CBEDF-2479-114A-3B88-E826F47E99C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AD41266-321A-968F-63A5-B0215C88F09C}"/>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1951137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B4BA0E-57D0-B798-652B-696A836E7B5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43BB1567-A550-0E55-D471-B69E16C675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897329A-954E-F7A2-6188-AB3AFB4DF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4815797-ED04-E027-F2F5-3548C7F62FFC}"/>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6" name="Marcador de pie de página 5">
            <a:extLst>
              <a:ext uri="{FF2B5EF4-FFF2-40B4-BE49-F238E27FC236}">
                <a16:creationId xmlns:a16="http://schemas.microsoft.com/office/drawing/2014/main" id="{381C36D6-9A28-4CC0-41A7-F3B51FDEB74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A36CFE6-5F6A-33E2-7C5B-079EF6EF612E}"/>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135270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714970-1F14-911C-5881-88B01DA7450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9A83227-3C28-D5F0-43BB-BB2235B9E9E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6D79661-AE1A-2805-DA58-1D3E1E84B8A4}"/>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5" name="Marcador de pie de página 4">
            <a:extLst>
              <a:ext uri="{FF2B5EF4-FFF2-40B4-BE49-F238E27FC236}">
                <a16:creationId xmlns:a16="http://schemas.microsoft.com/office/drawing/2014/main" id="{68D3FBEA-0A77-327C-AAEE-AB66F7F37AE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DCA4AF5-5711-779B-F7C4-28C5284F95E7}"/>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2662300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615436B-ABEF-8654-50EA-9324A8FB670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136BBF3-4088-029D-0604-343A34D0734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67AEB3C-FC76-FD91-172D-464192B8C1DD}"/>
              </a:ext>
            </a:extLst>
          </p:cNvPr>
          <p:cNvSpPr>
            <a:spLocks noGrp="1"/>
          </p:cNvSpPr>
          <p:nvPr>
            <p:ph type="dt" sz="half" idx="10"/>
          </p:nvPr>
        </p:nvSpPr>
        <p:spPr/>
        <p:txBody>
          <a:bodyPr/>
          <a:lstStyle/>
          <a:p>
            <a:fld id="{B4C37C97-E88F-405E-98CD-F72F44B5D41C}" type="datetimeFigureOut">
              <a:rPr lang="es-CO" smtClean="0"/>
              <a:t>30/05/2026</a:t>
            </a:fld>
            <a:endParaRPr lang="es-CO"/>
          </a:p>
        </p:txBody>
      </p:sp>
      <p:sp>
        <p:nvSpPr>
          <p:cNvPr id="5" name="Marcador de pie de página 4">
            <a:extLst>
              <a:ext uri="{FF2B5EF4-FFF2-40B4-BE49-F238E27FC236}">
                <a16:creationId xmlns:a16="http://schemas.microsoft.com/office/drawing/2014/main" id="{29F4CBA5-84D0-4DE7-1E7C-0B4D7F043AF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CB2594C-4CFC-C81E-441B-0FAAB2867AC0}"/>
              </a:ext>
            </a:extLst>
          </p:cNvPr>
          <p:cNvSpPr>
            <a:spLocks noGrp="1"/>
          </p:cNvSpPr>
          <p:nvPr>
            <p:ph type="sldNum" sz="quarter" idx="12"/>
          </p:nvPr>
        </p:nvSpPr>
        <p:spPr/>
        <p:txBody>
          <a:bodyPr/>
          <a:lstStyle/>
          <a:p>
            <a:fld id="{8FFB0E7D-7680-498A-952A-D8A716959F0A}" type="slidenum">
              <a:rPr lang="es-CO" smtClean="0"/>
              <a:t>‹Nº›</a:t>
            </a:fld>
            <a:endParaRPr lang="es-CO"/>
          </a:p>
        </p:txBody>
      </p:sp>
    </p:spTree>
    <p:extLst>
      <p:ext uri="{BB962C8B-B14F-4D97-AF65-F5344CB8AC3E}">
        <p14:creationId xmlns:p14="http://schemas.microsoft.com/office/powerpoint/2010/main" val="179730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42D230-0530-E271-9912-D7AF71956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29328B9-2C36-2F32-23A6-A00C5583F1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114C2D5-DA1B-21BD-B863-EE94D41F8D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37C97-E88F-405E-98CD-F72F44B5D41C}" type="datetimeFigureOut">
              <a:rPr lang="es-CO" smtClean="0"/>
              <a:t>30/05/2026</a:t>
            </a:fld>
            <a:endParaRPr lang="es-CO"/>
          </a:p>
        </p:txBody>
      </p:sp>
      <p:sp>
        <p:nvSpPr>
          <p:cNvPr id="5" name="Marcador de pie de página 4">
            <a:extLst>
              <a:ext uri="{FF2B5EF4-FFF2-40B4-BE49-F238E27FC236}">
                <a16:creationId xmlns:a16="http://schemas.microsoft.com/office/drawing/2014/main" id="{DD5CAF01-B953-1FB9-EF98-BDEE565638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3ED1A420-4257-7C4E-CDA6-32A993FA1D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FB0E7D-7680-498A-952A-D8A716959F0A}" type="slidenum">
              <a:rPr lang="es-CO" smtClean="0"/>
              <a:t>‹Nº›</a:t>
            </a:fld>
            <a:endParaRPr lang="es-CO"/>
          </a:p>
        </p:txBody>
      </p:sp>
    </p:spTree>
    <p:extLst>
      <p:ext uri="{BB962C8B-B14F-4D97-AF65-F5344CB8AC3E}">
        <p14:creationId xmlns:p14="http://schemas.microsoft.com/office/powerpoint/2010/main" val="14920208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CC8119C-631D-C9A5-4B0C-20601C83FA8D}"/>
              </a:ext>
            </a:extLst>
          </p:cNvPr>
          <p:cNvSpPr>
            <a:spLocks noGrp="1"/>
          </p:cNvSpPr>
          <p:nvPr>
            <p:ph type="ctrTitle"/>
          </p:nvPr>
        </p:nvSpPr>
        <p:spPr>
          <a:xfrm>
            <a:off x="804672" y="5116529"/>
            <a:ext cx="10592174" cy="1000655"/>
          </a:xfrm>
        </p:spPr>
        <p:txBody>
          <a:bodyPr anchor="t">
            <a:normAutofit/>
          </a:bodyPr>
          <a:lstStyle/>
          <a:p>
            <a:pPr algn="l"/>
            <a:r>
              <a:rPr lang="es-MX" sz="4000" dirty="0">
                <a:solidFill>
                  <a:schemeClr val="accent4">
                    <a:lumMod val="50000"/>
                    <a:lumOff val="50000"/>
                  </a:schemeClr>
                </a:solidFill>
              </a:rPr>
              <a:t>Análisis de la Empresa Contoso </a:t>
            </a:r>
            <a:r>
              <a:rPr lang="es-MX" sz="4000" dirty="0" err="1">
                <a:solidFill>
                  <a:schemeClr val="accent4">
                    <a:lumMod val="50000"/>
                    <a:lumOff val="50000"/>
                  </a:schemeClr>
                </a:solidFill>
              </a:rPr>
              <a:t>Electronics</a:t>
            </a:r>
            <a:r>
              <a:rPr lang="es-MX" sz="4000" dirty="0">
                <a:solidFill>
                  <a:schemeClr val="accent4">
                    <a:lumMod val="50000"/>
                    <a:lumOff val="50000"/>
                  </a:schemeClr>
                </a:solidFill>
              </a:rPr>
              <a:t> </a:t>
            </a:r>
            <a:endParaRPr lang="es-CO" sz="4000" dirty="0">
              <a:solidFill>
                <a:schemeClr val="accent4">
                  <a:lumMod val="50000"/>
                  <a:lumOff val="50000"/>
                </a:schemeClr>
              </a:solidFill>
            </a:endParaRPr>
          </a:p>
        </p:txBody>
      </p:sp>
      <p:pic>
        <p:nvPicPr>
          <p:cNvPr id="5" name="Marcador de contenido 4" descr="Logotipo&#10;&#10;Descripción generada automáticamente">
            <a:extLst>
              <a:ext uri="{FF2B5EF4-FFF2-40B4-BE49-F238E27FC236}">
                <a16:creationId xmlns:a16="http://schemas.microsoft.com/office/drawing/2014/main" id="{44A0608D-2A30-3574-5A4E-9E41D140C791}"/>
              </a:ext>
            </a:extLst>
          </p:cNvPr>
          <p:cNvPicPr>
            <a:picLocks noChangeAspect="1"/>
          </p:cNvPicPr>
          <p:nvPr/>
        </p:nvPicPr>
        <p:blipFill>
          <a:blip r:embed="rId2">
            <a:extLst>
              <a:ext uri="{28A0092B-C50C-407E-A947-70E740481C1C}">
                <a14:useLocalDpi xmlns:a14="http://schemas.microsoft.com/office/drawing/2010/main" val="0"/>
              </a:ext>
            </a:extLst>
          </a:blip>
          <a:srcRect t="9669" b="9721"/>
          <a:stretch>
            <a:fillRect/>
          </a:stretch>
        </p:blipFill>
        <p:spPr>
          <a:xfrm>
            <a:off x="-1" y="10"/>
            <a:ext cx="12192001" cy="4201449"/>
          </a:xfrm>
          <a:prstGeom prst="rect">
            <a:avLst/>
          </a:prstGeom>
        </p:spPr>
      </p:pic>
      <p:grpSp>
        <p:nvGrpSpPr>
          <p:cNvPr id="19"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0"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ítulo 2">
            <a:extLst>
              <a:ext uri="{FF2B5EF4-FFF2-40B4-BE49-F238E27FC236}">
                <a16:creationId xmlns:a16="http://schemas.microsoft.com/office/drawing/2014/main" id="{487A3F1F-7DC7-1626-24B5-716F7D091719}"/>
              </a:ext>
            </a:extLst>
          </p:cNvPr>
          <p:cNvSpPr>
            <a:spLocks noGrp="1"/>
          </p:cNvSpPr>
          <p:nvPr>
            <p:ph type="subTitle" idx="1"/>
          </p:nvPr>
        </p:nvSpPr>
        <p:spPr>
          <a:xfrm>
            <a:off x="804672" y="4358518"/>
            <a:ext cx="9416898" cy="706642"/>
          </a:xfrm>
        </p:spPr>
        <p:txBody>
          <a:bodyPr anchor="b">
            <a:normAutofit fontScale="92500" lnSpcReduction="10000"/>
          </a:bodyPr>
          <a:lstStyle/>
          <a:p>
            <a:pPr algn="l"/>
            <a:r>
              <a:rPr lang="es-MX" sz="1400" dirty="0">
                <a:solidFill>
                  <a:schemeClr val="accent4">
                    <a:lumMod val="50000"/>
                    <a:lumOff val="50000"/>
                  </a:schemeClr>
                </a:solidFill>
              </a:rPr>
              <a:t>Juan Sebastian Rodriguez Pulido </a:t>
            </a:r>
          </a:p>
          <a:p>
            <a:pPr algn="l"/>
            <a:r>
              <a:rPr lang="es-MX" sz="1400" dirty="0">
                <a:solidFill>
                  <a:schemeClr val="accent4">
                    <a:lumMod val="50000"/>
                    <a:lumOff val="50000"/>
                  </a:schemeClr>
                </a:solidFill>
              </a:rPr>
              <a:t>CC: 1022926509</a:t>
            </a:r>
            <a:br>
              <a:rPr lang="es-MX" sz="1400" dirty="0">
                <a:solidFill>
                  <a:schemeClr val="accent4">
                    <a:lumMod val="50000"/>
                    <a:lumOff val="50000"/>
                  </a:schemeClr>
                </a:solidFill>
              </a:rPr>
            </a:br>
            <a:r>
              <a:rPr lang="es-MX" sz="1400" dirty="0">
                <a:solidFill>
                  <a:schemeClr val="accent4">
                    <a:lumMod val="50000"/>
                    <a:lumOff val="50000"/>
                  </a:schemeClr>
                </a:solidFill>
              </a:rPr>
              <a:t>Curso de análisis de datos intermedio. Inteligencia de negocios y </a:t>
            </a:r>
            <a:r>
              <a:rPr lang="es-MX" sz="1400" dirty="0" err="1">
                <a:solidFill>
                  <a:schemeClr val="accent4">
                    <a:lumMod val="50000"/>
                    <a:lumOff val="50000"/>
                  </a:schemeClr>
                </a:solidFill>
              </a:rPr>
              <a:t>Power</a:t>
            </a:r>
            <a:r>
              <a:rPr lang="es-MX" sz="1400" dirty="0">
                <a:solidFill>
                  <a:schemeClr val="accent4">
                    <a:lumMod val="50000"/>
                    <a:lumOff val="50000"/>
                  </a:schemeClr>
                </a:solidFill>
              </a:rPr>
              <a:t> BI</a:t>
            </a:r>
            <a:endParaRPr lang="es-CO" sz="1400" dirty="0">
              <a:solidFill>
                <a:schemeClr val="accent4">
                  <a:lumMod val="50000"/>
                  <a:lumOff val="50000"/>
                </a:schemeClr>
              </a:solidFill>
            </a:endParaRPr>
          </a:p>
        </p:txBody>
      </p:sp>
    </p:spTree>
    <p:extLst>
      <p:ext uri="{BB962C8B-B14F-4D97-AF65-F5344CB8AC3E}">
        <p14:creationId xmlns:p14="http://schemas.microsoft.com/office/powerpoint/2010/main" val="422623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Logotipo&#10;&#10;Descripción generada automáticamente con confianza media">
            <a:extLst>
              <a:ext uri="{FF2B5EF4-FFF2-40B4-BE49-F238E27FC236}">
                <a16:creationId xmlns:a16="http://schemas.microsoft.com/office/drawing/2014/main" id="{7C381076-14AD-8F76-6A12-CDC21468A32D}"/>
              </a:ext>
            </a:extLst>
          </p:cNvPr>
          <p:cNvPicPr>
            <a:picLocks noChangeAspect="1"/>
          </p:cNvPicPr>
          <p:nvPr/>
        </p:nvPicPr>
        <p:blipFill>
          <a:blip r:embed="rId2">
            <a:extLst>
              <a:ext uri="{28A0092B-C50C-407E-A947-70E740481C1C}">
                <a14:useLocalDpi xmlns:a14="http://schemas.microsoft.com/office/drawing/2010/main" val="0"/>
              </a:ext>
            </a:extLst>
          </a:blip>
          <a:srcRect t="8500" r="-1" b="6686"/>
          <a:stretch>
            <a:fillRect/>
          </a:stretch>
        </p:blipFill>
        <p:spPr>
          <a:xfrm>
            <a:off x="-1" y="10"/>
            <a:ext cx="12228129" cy="4666928"/>
          </a:xfrm>
          <a:prstGeom prst="rect">
            <a:avLst/>
          </a:prstGeom>
        </p:spPr>
      </p:pic>
      <p:grpSp>
        <p:nvGrpSpPr>
          <p:cNvPr id="14" name="Group 13">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5" name="Freeform: Shape 14">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8" name="Freeform: Shape 17">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ítulo 1">
            <a:extLst>
              <a:ext uri="{FF2B5EF4-FFF2-40B4-BE49-F238E27FC236}">
                <a16:creationId xmlns:a16="http://schemas.microsoft.com/office/drawing/2014/main" id="{4DEBE3B5-5698-379E-3A9D-82AE1190CF73}"/>
              </a:ext>
            </a:extLst>
          </p:cNvPr>
          <p:cNvSpPr>
            <a:spLocks noGrp="1"/>
          </p:cNvSpPr>
          <p:nvPr>
            <p:ph type="title"/>
          </p:nvPr>
        </p:nvSpPr>
        <p:spPr>
          <a:xfrm>
            <a:off x="804672" y="4551037"/>
            <a:ext cx="5021782" cy="1509931"/>
          </a:xfrm>
        </p:spPr>
        <p:txBody>
          <a:bodyPr>
            <a:normAutofit fontScale="90000"/>
          </a:bodyPr>
          <a:lstStyle/>
          <a:p>
            <a:r>
              <a:rPr lang="es-MX" sz="3600" dirty="0">
                <a:solidFill>
                  <a:schemeClr val="tx2"/>
                </a:solidFill>
              </a:rPr>
              <a:t>El canal Online ofrece el 20,38% de los ingresos</a:t>
            </a:r>
            <a:endParaRPr lang="es-CO" sz="3600" dirty="0">
              <a:solidFill>
                <a:schemeClr val="tx2"/>
              </a:solidFill>
            </a:endParaRPr>
          </a:p>
        </p:txBody>
      </p:sp>
      <p:sp>
        <p:nvSpPr>
          <p:cNvPr id="9" name="Content Placeholder 8">
            <a:extLst>
              <a:ext uri="{FF2B5EF4-FFF2-40B4-BE49-F238E27FC236}">
                <a16:creationId xmlns:a16="http://schemas.microsoft.com/office/drawing/2014/main" id="{E8AD48FA-3BDE-B274-42A4-03A913E868AA}"/>
              </a:ext>
            </a:extLst>
          </p:cNvPr>
          <p:cNvSpPr>
            <a:spLocks noGrp="1"/>
          </p:cNvSpPr>
          <p:nvPr>
            <p:ph idx="1"/>
          </p:nvPr>
        </p:nvSpPr>
        <p:spPr>
          <a:xfrm>
            <a:off x="6460917" y="4299093"/>
            <a:ext cx="4926411" cy="2161634"/>
          </a:xfrm>
        </p:spPr>
        <p:txBody>
          <a:bodyPr anchor="ctr">
            <a:normAutofit lnSpcReduction="10000"/>
          </a:bodyPr>
          <a:lstStyle/>
          <a:p>
            <a:pPr marL="0" indent="0">
              <a:buNone/>
            </a:pPr>
            <a:r>
              <a:rPr lang="es-MX" sz="1800" dirty="0">
                <a:solidFill>
                  <a:schemeClr val="tx2"/>
                </a:solidFill>
              </a:rPr>
              <a:t>El canal Online presenta el mayor margen y ticket promedio, indicando una mayor rentabilidad por transacción. </a:t>
            </a:r>
          </a:p>
          <a:p>
            <a:pPr marL="0" indent="0">
              <a:buNone/>
            </a:pPr>
            <a:r>
              <a:rPr lang="es-MX" sz="1800" dirty="0">
                <a:solidFill>
                  <a:schemeClr val="tx2"/>
                </a:solidFill>
              </a:rPr>
              <a:t>Se recomienda priorizar inversiones en estrategias digitales y fortalecimiento del canal online sobre todo en un ámbito exterior de los dos únicos lugares en que se utiliza este canal, USA y China.</a:t>
            </a:r>
            <a:endParaRPr lang="en-US" sz="1800" dirty="0">
              <a:solidFill>
                <a:schemeClr val="tx2"/>
              </a:solidFill>
            </a:endParaRPr>
          </a:p>
        </p:txBody>
      </p:sp>
    </p:spTree>
    <p:extLst>
      <p:ext uri="{BB962C8B-B14F-4D97-AF65-F5344CB8AC3E}">
        <p14:creationId xmlns:p14="http://schemas.microsoft.com/office/powerpoint/2010/main" val="3882022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102AF8-1F49-6E35-10AF-C72B007C31C9}"/>
              </a:ext>
            </a:extLst>
          </p:cNvPr>
          <p:cNvSpPr>
            <a:spLocks noGrp="1"/>
          </p:cNvSpPr>
          <p:nvPr>
            <p:ph type="title"/>
          </p:nvPr>
        </p:nvSpPr>
        <p:spPr/>
        <p:txBody>
          <a:bodyPr/>
          <a:lstStyle/>
          <a:p>
            <a:r>
              <a:rPr lang="es-MX" dirty="0"/>
              <a:t>Promociones más rentables </a:t>
            </a:r>
            <a:endParaRPr lang="es-CO" dirty="0"/>
          </a:p>
        </p:txBody>
      </p:sp>
      <p:pic>
        <p:nvPicPr>
          <p:cNvPr id="5" name="Marcador de contenido 4" descr="Logotipo&#10;&#10;Descripción generada automáticamente">
            <a:extLst>
              <a:ext uri="{FF2B5EF4-FFF2-40B4-BE49-F238E27FC236}">
                <a16:creationId xmlns:a16="http://schemas.microsoft.com/office/drawing/2014/main" id="{5BFFD823-3322-F24D-FA57-4AF77C6823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728630"/>
            <a:ext cx="2643001" cy="1129370"/>
          </a:xfrm>
        </p:spPr>
      </p:pic>
      <p:sp>
        <p:nvSpPr>
          <p:cNvPr id="6" name="CuadroTexto 5">
            <a:extLst>
              <a:ext uri="{FF2B5EF4-FFF2-40B4-BE49-F238E27FC236}">
                <a16:creationId xmlns:a16="http://schemas.microsoft.com/office/drawing/2014/main" id="{BEED357C-C935-9CD9-C0E9-5079F40F4DDF}"/>
              </a:ext>
            </a:extLst>
          </p:cNvPr>
          <p:cNvSpPr txBox="1"/>
          <p:nvPr/>
        </p:nvSpPr>
        <p:spPr>
          <a:xfrm>
            <a:off x="882869" y="2186152"/>
            <a:ext cx="10646979" cy="1477328"/>
          </a:xfrm>
          <a:prstGeom prst="rect">
            <a:avLst/>
          </a:prstGeom>
          <a:noFill/>
        </p:spPr>
        <p:txBody>
          <a:bodyPr wrap="square" rtlCol="0">
            <a:spAutoFit/>
          </a:bodyPr>
          <a:lstStyle/>
          <a:p>
            <a:r>
              <a:rPr lang="es-MX" dirty="0"/>
              <a:t>Se observa que el mayor margen de ganancia se presenta en la promoción “</a:t>
            </a:r>
            <a:r>
              <a:rPr lang="es-MX" dirty="0" err="1"/>
              <a:t>European</a:t>
            </a:r>
            <a:r>
              <a:rPr lang="es-MX" dirty="0"/>
              <a:t> Holiday”  a su vez se observa que en norte américa esta la mayor cantidad del mercado por el ingreso de las tiendas físicas. </a:t>
            </a:r>
          </a:p>
          <a:p>
            <a:r>
              <a:rPr lang="es-MX" dirty="0"/>
              <a:t>Por lo tanto, el consumidor de USA es confiable para continuar invirtiendo en el y se ve la potencialidad de </a:t>
            </a:r>
            <a:endParaRPr lang="es-CO" dirty="0"/>
          </a:p>
        </p:txBody>
      </p:sp>
    </p:spTree>
    <p:extLst>
      <p:ext uri="{BB962C8B-B14F-4D97-AF65-F5344CB8AC3E}">
        <p14:creationId xmlns:p14="http://schemas.microsoft.com/office/powerpoint/2010/main" val="304268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59C7AE-3549-4F83-9959-5D4BA28ADDDB}"/>
              </a:ext>
            </a:extLst>
          </p:cNvPr>
          <p:cNvSpPr>
            <a:spLocks noGrp="1"/>
          </p:cNvSpPr>
          <p:nvPr>
            <p:ph type="title"/>
          </p:nvPr>
        </p:nvSpPr>
        <p:spPr/>
        <p:txBody>
          <a:bodyPr/>
          <a:lstStyle/>
          <a:p>
            <a:r>
              <a:rPr lang="es-MX" dirty="0"/>
              <a:t>Devoluciones en nuestros canales de distribución </a:t>
            </a:r>
            <a:endParaRPr lang="es-CO" dirty="0"/>
          </a:p>
        </p:txBody>
      </p:sp>
      <p:sp>
        <p:nvSpPr>
          <p:cNvPr id="3" name="Marcador de contenido 2">
            <a:extLst>
              <a:ext uri="{FF2B5EF4-FFF2-40B4-BE49-F238E27FC236}">
                <a16:creationId xmlns:a16="http://schemas.microsoft.com/office/drawing/2014/main" id="{C6A37B99-3360-BD52-05D5-923DB980E5DC}"/>
              </a:ext>
            </a:extLst>
          </p:cNvPr>
          <p:cNvSpPr>
            <a:spLocks noGrp="1"/>
          </p:cNvSpPr>
          <p:nvPr>
            <p:ph idx="1"/>
          </p:nvPr>
        </p:nvSpPr>
        <p:spPr/>
        <p:txBody>
          <a:bodyPr/>
          <a:lstStyle/>
          <a:p>
            <a:r>
              <a:rPr lang="es-MX" dirty="0"/>
              <a:t>Hemos observado que las devoluciones en general han disminuido en uno 20 puntos, a su vez se evidencia que el canal que más tiene dificultades con las devoluciones es “TV and Video”.</a:t>
            </a:r>
          </a:p>
          <a:p>
            <a:r>
              <a:rPr lang="es-MX" dirty="0"/>
              <a:t> se remienda hacer una investigación de las razones por la cual estas devoluciones </a:t>
            </a:r>
          </a:p>
          <a:p>
            <a:endParaRPr lang="es-CO" dirty="0"/>
          </a:p>
        </p:txBody>
      </p:sp>
      <p:pic>
        <p:nvPicPr>
          <p:cNvPr id="6" name="Marcador de contenido 4" descr="Logotipo&#10;&#10;Descripción generada automáticamente">
            <a:extLst>
              <a:ext uri="{FF2B5EF4-FFF2-40B4-BE49-F238E27FC236}">
                <a16:creationId xmlns:a16="http://schemas.microsoft.com/office/drawing/2014/main" id="{974914D9-1FAC-328A-B029-ABD6A1C43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28630"/>
            <a:ext cx="2643001" cy="1129370"/>
          </a:xfrm>
          <a:prstGeom prst="rect">
            <a:avLst/>
          </a:prstGeom>
        </p:spPr>
      </p:pic>
    </p:spTree>
    <p:extLst>
      <p:ext uri="{BB962C8B-B14F-4D97-AF65-F5344CB8AC3E}">
        <p14:creationId xmlns:p14="http://schemas.microsoft.com/office/powerpoint/2010/main" val="68614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138CFC-46FC-2DB2-30D5-5762FC711EFE}"/>
              </a:ext>
            </a:extLst>
          </p:cNvPr>
          <p:cNvSpPr>
            <a:spLocks noGrp="1"/>
          </p:cNvSpPr>
          <p:nvPr>
            <p:ph type="title"/>
          </p:nvPr>
        </p:nvSpPr>
        <p:spPr/>
        <p:txBody>
          <a:bodyPr/>
          <a:lstStyle/>
          <a:p>
            <a:r>
              <a:rPr lang="es-MX" dirty="0"/>
              <a:t>Rentabilidad por empleados </a:t>
            </a:r>
            <a:endParaRPr lang="es-CO" dirty="0"/>
          </a:p>
        </p:txBody>
      </p:sp>
      <p:sp>
        <p:nvSpPr>
          <p:cNvPr id="3" name="Marcador de contenido 2">
            <a:extLst>
              <a:ext uri="{FF2B5EF4-FFF2-40B4-BE49-F238E27FC236}">
                <a16:creationId xmlns:a16="http://schemas.microsoft.com/office/drawing/2014/main" id="{0E976704-6277-F398-7AFC-9E66D7268DDB}"/>
              </a:ext>
            </a:extLst>
          </p:cNvPr>
          <p:cNvSpPr>
            <a:spLocks noGrp="1"/>
          </p:cNvSpPr>
          <p:nvPr>
            <p:ph idx="1"/>
          </p:nvPr>
        </p:nvSpPr>
        <p:spPr/>
        <p:txBody>
          <a:bodyPr/>
          <a:lstStyle/>
          <a:p>
            <a:r>
              <a:rPr lang="es-MX" dirty="0"/>
              <a:t>La mayor cantidad de ingresos por metro cuadrado se da con unos 120 empleados en la tienda que más genera ingresos, pero el tercer puesto con una gran cantidad de 15 empleados genera casi la mitad de los ingresos del primero </a:t>
            </a:r>
          </a:p>
          <a:p>
            <a:r>
              <a:rPr lang="es-MX" dirty="0"/>
              <a:t>Por lo tanto, se nota una ineficiencia en la cantidad de empleados en los primeros puestos dos puestos, así se tiene que revisar cuales son las estrategias utilizadas por esta sucursal que genera tanta rentabilidad con pocos empleados para replicar el modelo </a:t>
            </a:r>
            <a:endParaRPr lang="es-CO" dirty="0"/>
          </a:p>
        </p:txBody>
      </p:sp>
      <p:pic>
        <p:nvPicPr>
          <p:cNvPr id="4" name="Marcador de contenido 4" descr="Logotipo&#10;&#10;Descripción generada automáticamente">
            <a:extLst>
              <a:ext uri="{FF2B5EF4-FFF2-40B4-BE49-F238E27FC236}">
                <a16:creationId xmlns:a16="http://schemas.microsoft.com/office/drawing/2014/main" id="{E2D0F345-11DE-BAAC-B3D9-C674D6D0C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28630"/>
            <a:ext cx="2643001" cy="1129370"/>
          </a:xfrm>
          <a:prstGeom prst="rect">
            <a:avLst/>
          </a:prstGeom>
        </p:spPr>
      </p:pic>
    </p:spTree>
    <p:extLst>
      <p:ext uri="{BB962C8B-B14F-4D97-AF65-F5344CB8AC3E}">
        <p14:creationId xmlns:p14="http://schemas.microsoft.com/office/powerpoint/2010/main" val="3692876333"/>
      </p:ext>
    </p:extLst>
  </p:cSld>
  <p:clrMapOvr>
    <a:masterClrMapping/>
  </p:clrMapOvr>
</p:sld>
</file>

<file path=ppt/theme/theme1.xml><?xml version="1.0" encoding="utf-8"?>
<a:theme xmlns:a="http://schemas.openxmlformats.org/drawingml/2006/main" name="Tema de Office">
  <a:themeElements>
    <a:clrScheme name="Contoso">
      <a:dk1>
        <a:srgbClr val="FFFFFF"/>
      </a:dk1>
      <a:lt1>
        <a:sysClr val="window" lastClr="FFFFFF"/>
      </a:lt1>
      <a:dk2>
        <a:srgbClr val="0A2540"/>
      </a:dk2>
      <a:lt2>
        <a:srgbClr val="E7E6E6"/>
      </a:lt2>
      <a:accent1>
        <a:srgbClr val="1E90FF"/>
      </a:accent1>
      <a:accent2>
        <a:srgbClr val="00B7FF"/>
      </a:accent2>
      <a:accent3>
        <a:srgbClr val="0057D9"/>
      </a:accent3>
      <a:accent4>
        <a:srgbClr val="0A2540"/>
      </a:accent4>
      <a:accent5>
        <a:srgbClr val="5B9BD5"/>
      </a:accent5>
      <a:accent6>
        <a:srgbClr val="AEB7C2"/>
      </a:accent6>
      <a:hlink>
        <a:srgbClr val="0563C1"/>
      </a:hlink>
      <a:folHlink>
        <a:srgbClr val="954F72"/>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678</TotalTime>
  <Words>297</Words>
  <Application>Microsoft Office PowerPoint</Application>
  <PresentationFormat>Panorámica</PresentationFormat>
  <Paragraphs>15</Paragraphs>
  <Slides>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vt:i4>
      </vt:variant>
    </vt:vector>
  </HeadingPairs>
  <TitlesOfParts>
    <vt:vector size="8" baseType="lpstr">
      <vt:lpstr>Arial</vt:lpstr>
      <vt:lpstr>Century Schoolbook</vt:lpstr>
      <vt:lpstr>Tema de Office</vt:lpstr>
      <vt:lpstr>Análisis de la Empresa Contoso Electronics </vt:lpstr>
      <vt:lpstr>El canal Online ofrece el 20,38% de los ingresos</vt:lpstr>
      <vt:lpstr>Promociones más rentables </vt:lpstr>
      <vt:lpstr>Devoluciones en nuestros canales de distribución </vt:lpstr>
      <vt:lpstr>Rentabilidad por empleados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la Empresa Contoso Electronics </dc:title>
  <dc:creator>Juan Sebastian Rodriguez Pulido</dc:creator>
  <cp:lastModifiedBy>Juan Sebastian Rodriguez Pulido</cp:lastModifiedBy>
  <cp:revision>1</cp:revision>
  <dcterms:created xsi:type="dcterms:W3CDTF">2026-05-30T16:47:13Z</dcterms:created>
  <dcterms:modified xsi:type="dcterms:W3CDTF">2026-05-31T04:05:34Z</dcterms:modified>
</cp:coreProperties>
</file>